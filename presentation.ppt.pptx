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7" r:id="rId11"/>
    <p:sldId id="265" r:id="rId12"/>
    <p:sldId id="266"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B2572A7-2E13-4451-A524-94980A1B295B}" v="2" dt="2025-10-29T19:19:57.55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25" autoAdjust="0"/>
    <p:restoredTop sz="94660"/>
  </p:normalViewPr>
  <p:slideViewPr>
    <p:cSldViewPr snapToGrid="0">
      <p:cViewPr varScale="1">
        <p:scale>
          <a:sx n="95" d="100"/>
          <a:sy n="95" d="100"/>
        </p:scale>
        <p:origin x="67"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sifa Shaik" userId="0f69c06dc04d7a81" providerId="LiveId" clId="{8162DAAC-8B64-4825-93B8-463875B1FE76}"/>
    <pc:docChg chg="custSel addSld modSld sldOrd">
      <pc:chgData name="Vasifa Shaik" userId="0f69c06dc04d7a81" providerId="LiveId" clId="{8162DAAC-8B64-4825-93B8-463875B1FE76}" dt="2025-10-29T19:24:26.650" v="98" actId="255"/>
      <pc:docMkLst>
        <pc:docMk/>
      </pc:docMkLst>
      <pc:sldChg chg="modSp mod">
        <pc:chgData name="Vasifa Shaik" userId="0f69c06dc04d7a81" providerId="LiveId" clId="{8162DAAC-8B64-4825-93B8-463875B1FE76}" dt="2025-10-29T19:17:13.513" v="49" actId="2711"/>
        <pc:sldMkLst>
          <pc:docMk/>
          <pc:sldMk cId="4233731549" sldId="257"/>
        </pc:sldMkLst>
        <pc:spChg chg="mod">
          <ac:chgData name="Vasifa Shaik" userId="0f69c06dc04d7a81" providerId="LiveId" clId="{8162DAAC-8B64-4825-93B8-463875B1FE76}" dt="2025-10-29T19:17:13.513" v="49" actId="2711"/>
          <ac:spMkLst>
            <pc:docMk/>
            <pc:sldMk cId="4233731549" sldId="257"/>
            <ac:spMk id="3" creationId="{5FED3B64-B38E-9D8C-95F4-DDF2CABB6637}"/>
          </ac:spMkLst>
        </pc:spChg>
      </pc:sldChg>
      <pc:sldChg chg="addSp delSp modSp new mod ord modClrScheme chgLayout">
        <pc:chgData name="Vasifa Shaik" userId="0f69c06dc04d7a81" providerId="LiveId" clId="{8162DAAC-8B64-4825-93B8-463875B1FE76}" dt="2025-10-29T19:24:26.650" v="98" actId="255"/>
        <pc:sldMkLst>
          <pc:docMk/>
          <pc:sldMk cId="3256020790" sldId="267"/>
        </pc:sldMkLst>
        <pc:spChg chg="del mod">
          <ac:chgData name="Vasifa Shaik" userId="0f69c06dc04d7a81" providerId="LiveId" clId="{8162DAAC-8B64-4825-93B8-463875B1FE76}" dt="2025-10-29T19:03:22.280" v="4" actId="700"/>
          <ac:spMkLst>
            <pc:docMk/>
            <pc:sldMk cId="3256020790" sldId="267"/>
            <ac:spMk id="2" creationId="{1C62B228-743A-6D3C-5D02-9B52763AB03D}"/>
          </ac:spMkLst>
        </pc:spChg>
        <pc:spChg chg="del">
          <ac:chgData name="Vasifa Shaik" userId="0f69c06dc04d7a81" providerId="LiveId" clId="{8162DAAC-8B64-4825-93B8-463875B1FE76}" dt="2025-10-29T19:03:22.280" v="4" actId="700"/>
          <ac:spMkLst>
            <pc:docMk/>
            <pc:sldMk cId="3256020790" sldId="267"/>
            <ac:spMk id="3" creationId="{71804F34-C767-3851-F540-9A171A58A8E1}"/>
          </ac:spMkLst>
        </pc:spChg>
        <pc:spChg chg="add mod">
          <ac:chgData name="Vasifa Shaik" userId="0f69c06dc04d7a81" providerId="LiveId" clId="{8162DAAC-8B64-4825-93B8-463875B1FE76}" dt="2025-10-29T19:24:26.650" v="98" actId="255"/>
          <ac:spMkLst>
            <pc:docMk/>
            <pc:sldMk cId="3256020790" sldId="267"/>
            <ac:spMk id="4" creationId="{A3FDDC70-3DAE-6225-1F98-9819F292D98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626E83-2891-40D1-833E-08D670B62F5E}" type="datetimeFigureOut">
              <a:rPr lang="en-IN" smtClean="0"/>
              <a:t>30-10-2025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DB43B8-FB5A-4D0C-8001-DB4DAB536735}" type="slidenum">
              <a:rPr lang="en-IN" smtClean="0"/>
              <a:t>‹#›</a:t>
            </a:fld>
            <a:endParaRPr lang="en-IN"/>
          </a:p>
        </p:txBody>
      </p:sp>
    </p:spTree>
    <p:extLst>
      <p:ext uri="{BB962C8B-B14F-4D97-AF65-F5344CB8AC3E}">
        <p14:creationId xmlns:p14="http://schemas.microsoft.com/office/powerpoint/2010/main" val="19633246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5DB43B8-FB5A-4D0C-8001-DB4DAB536735}" type="slidenum">
              <a:rPr lang="en-IN" smtClean="0"/>
              <a:t>1</a:t>
            </a:fld>
            <a:endParaRPr lang="en-IN"/>
          </a:p>
        </p:txBody>
      </p:sp>
    </p:spTree>
    <p:extLst>
      <p:ext uri="{BB962C8B-B14F-4D97-AF65-F5344CB8AC3E}">
        <p14:creationId xmlns:p14="http://schemas.microsoft.com/office/powerpoint/2010/main" val="117101158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10/30/2025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10/30/2025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10/30/2025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10/30/2025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10/30/2025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10/30/2025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48A87A34-81AB-432B-8DAE-1953F412C126}" type="datetimeFigureOut">
              <a:rPr lang="en-US" dirty="0"/>
              <a:t>10/30/2025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10/30/2025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10/30/2025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10/30/2025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10/30/2025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10/30/2025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10/30/2025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10/30/2025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10/30/2025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10/30/2025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10/30/2025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mt="8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48A87A34-81AB-432B-8DAE-1953F412C126}" type="datetimeFigureOut">
              <a:rPr lang="en-US" dirty="0"/>
              <a:pPr/>
              <a:t>10/30/2025</a:t>
            </a:fld>
            <a:endParaRPr lang="en-US" dirty="0"/>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dirty="0"/>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6D22F896-40B5-4ADD-8801-0D06FADFA09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6.xml.rels><?xml version="1.0" encoding="UTF-8" standalone="yes"?>
<Relationships xmlns="http://schemas.openxmlformats.org/package/2006/relationships"><Relationship Id="rId3" Type="http://schemas.openxmlformats.org/officeDocument/2006/relationships/hyperlink" Target="https://en.wikipedia.org/wiki/Microsoft" TargetMode="External"/><Relationship Id="rId2" Type="http://schemas.openxmlformats.org/officeDocument/2006/relationships/hyperlink" Target="https://en.wikipedia.org/wiki/Data_visualization" TargetMode="External"/><Relationship Id="rId1" Type="http://schemas.openxmlformats.org/officeDocument/2006/relationships/slideLayout" Target="../slideLayouts/slideLayout7.xml"/><Relationship Id="rId5" Type="http://schemas.openxmlformats.org/officeDocument/2006/relationships/image" Target="../media/image5.jpg"/><Relationship Id="rId4" Type="http://schemas.openxmlformats.org/officeDocument/2006/relationships/hyperlink" Target="https://en.wikipedia.org/wiki/Business_intelligence"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2C26D-9C2F-2748-C6B0-960EC2F7B5D3}"/>
              </a:ext>
            </a:extLst>
          </p:cNvPr>
          <p:cNvSpPr>
            <a:spLocks noGrp="1"/>
          </p:cNvSpPr>
          <p:nvPr>
            <p:ph type="ctrTitle"/>
          </p:nvPr>
        </p:nvSpPr>
        <p:spPr>
          <a:xfrm>
            <a:off x="1486317" y="1844841"/>
            <a:ext cx="8689976" cy="1371599"/>
          </a:xfrm>
        </p:spPr>
        <p:txBody>
          <a:bodyPr>
            <a:normAutofit/>
          </a:bodyPr>
          <a:lstStyle/>
          <a:p>
            <a:r>
              <a:rPr lang="en-US" sz="4000" b="1" dirty="0"/>
              <a:t>End-to-End Retail Performance and Behavioral Analytics</a:t>
            </a:r>
            <a:endParaRPr lang="en-IN" sz="4000" b="1" dirty="0"/>
          </a:p>
        </p:txBody>
      </p:sp>
      <p:sp>
        <p:nvSpPr>
          <p:cNvPr id="3" name="Subtitle 2">
            <a:extLst>
              <a:ext uri="{FF2B5EF4-FFF2-40B4-BE49-F238E27FC236}">
                <a16:creationId xmlns:a16="http://schemas.microsoft.com/office/drawing/2014/main" id="{D04D8423-BBC7-47FD-45EF-3C65E6DDCEE6}"/>
              </a:ext>
            </a:extLst>
          </p:cNvPr>
          <p:cNvSpPr>
            <a:spLocks noGrp="1"/>
          </p:cNvSpPr>
          <p:nvPr>
            <p:ph type="subTitle" idx="1"/>
          </p:nvPr>
        </p:nvSpPr>
        <p:spPr>
          <a:xfrm>
            <a:off x="9633285" y="4804611"/>
            <a:ext cx="2069432" cy="1026695"/>
          </a:xfrm>
        </p:spPr>
        <p:txBody>
          <a:bodyPr>
            <a:normAutofit/>
          </a:bodyPr>
          <a:lstStyle/>
          <a:p>
            <a:pPr>
              <a:lnSpc>
                <a:spcPct val="150000"/>
              </a:lnSpc>
              <a:buClr>
                <a:schemeClr val="accent1">
                  <a:lumMod val="75000"/>
                </a:schemeClr>
              </a:buClr>
              <a:defRPr/>
            </a:pPr>
            <a:r>
              <a:rPr lang="en-IN" sz="1600" dirty="0">
                <a:solidFill>
                  <a:schemeClr val="tx1"/>
                </a:solidFill>
                <a:latin typeface="Tw Cen MT" pitchFamily="34" charset="0"/>
                <a:cs typeface="Times New Roman" panose="02020603050405020304" pitchFamily="18" charset="0"/>
              </a:rPr>
              <a:t>PRESENTATION  BY </a:t>
            </a:r>
            <a:r>
              <a:rPr lang="en-IN" sz="2000" dirty="0">
                <a:solidFill>
                  <a:schemeClr val="tx1"/>
                </a:solidFill>
                <a:latin typeface="Tw Cen MT" pitchFamily="34" charset="0"/>
                <a:cs typeface="Times New Roman" panose="02020603050405020304" pitchFamily="18" charset="0"/>
              </a:rPr>
              <a:t>:</a:t>
            </a:r>
            <a:r>
              <a:rPr lang="en-US" sz="2000" b="1" dirty="0">
                <a:solidFill>
                  <a:schemeClr val="tx1"/>
                </a:solidFill>
              </a:rPr>
              <a:t> Vasifa Shaik</a:t>
            </a:r>
          </a:p>
          <a:p>
            <a:endParaRPr lang="en-IN" dirty="0"/>
          </a:p>
        </p:txBody>
      </p:sp>
      <p:pic>
        <p:nvPicPr>
          <p:cNvPr id="4" name="Picture 3">
            <a:extLst>
              <a:ext uri="{FF2B5EF4-FFF2-40B4-BE49-F238E27FC236}">
                <a16:creationId xmlns:a16="http://schemas.microsoft.com/office/drawing/2014/main" id="{C3146A57-5B16-6B61-F298-B7192939A952}"/>
              </a:ext>
            </a:extLst>
          </p:cNvPr>
          <p:cNvPicPr>
            <a:picLocks noChangeAspect="1"/>
          </p:cNvPicPr>
          <p:nvPr/>
        </p:nvPicPr>
        <p:blipFill>
          <a:blip r:embed="rId3"/>
          <a:stretch>
            <a:fillRect/>
          </a:stretch>
        </p:blipFill>
        <p:spPr>
          <a:xfrm>
            <a:off x="0" y="-705853"/>
            <a:ext cx="2157663" cy="1997243"/>
          </a:xfrm>
          <a:prstGeom prst="rect">
            <a:avLst/>
          </a:prstGeom>
        </p:spPr>
      </p:pic>
    </p:spTree>
    <p:extLst>
      <p:ext uri="{BB962C8B-B14F-4D97-AF65-F5344CB8AC3E}">
        <p14:creationId xmlns:p14="http://schemas.microsoft.com/office/powerpoint/2010/main" val="34531471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0F4E14-7877-D8EB-FBC0-158A4420BAFB}"/>
              </a:ext>
            </a:extLst>
          </p:cNvPr>
          <p:cNvSpPr>
            <a:spLocks noGrp="1"/>
          </p:cNvSpPr>
          <p:nvPr>
            <p:ph type="title"/>
          </p:nvPr>
        </p:nvSpPr>
        <p:spPr>
          <a:xfrm>
            <a:off x="913775" y="618517"/>
            <a:ext cx="2655593" cy="1009757"/>
          </a:xfrm>
        </p:spPr>
        <p:txBody>
          <a:bodyPr/>
          <a:lstStyle/>
          <a:p>
            <a:r>
              <a:rPr lang="en-US" dirty="0">
                <a:solidFill>
                  <a:srgbClr val="7030A0"/>
                </a:solidFill>
                <a:latin typeface="Tw Cen MT" pitchFamily="34" charset="0"/>
              </a:rPr>
              <a:t>CONTENTS</a:t>
            </a:r>
            <a:endParaRPr lang="en-IN" dirty="0">
              <a:solidFill>
                <a:srgbClr val="7030A0"/>
              </a:solidFill>
            </a:endParaRPr>
          </a:p>
        </p:txBody>
      </p:sp>
      <p:sp>
        <p:nvSpPr>
          <p:cNvPr id="3" name="Content Placeholder 2">
            <a:extLst>
              <a:ext uri="{FF2B5EF4-FFF2-40B4-BE49-F238E27FC236}">
                <a16:creationId xmlns:a16="http://schemas.microsoft.com/office/drawing/2014/main" id="{5FED3B64-B38E-9D8C-95F4-DDF2CABB6637}"/>
              </a:ext>
            </a:extLst>
          </p:cNvPr>
          <p:cNvSpPr>
            <a:spLocks noGrp="1"/>
          </p:cNvSpPr>
          <p:nvPr>
            <p:ph sz="quarter" idx="13"/>
          </p:nvPr>
        </p:nvSpPr>
        <p:spPr>
          <a:xfrm>
            <a:off x="913775" y="2094376"/>
            <a:ext cx="10363826" cy="3424107"/>
          </a:xfrm>
        </p:spPr>
        <p:txBody>
          <a:bodyPr>
            <a:normAutofit fontScale="92500" lnSpcReduction="20000"/>
          </a:bodyPr>
          <a:lstStyle/>
          <a:p>
            <a:pPr>
              <a:lnSpc>
                <a:spcPct val="150000"/>
              </a:lnSpc>
              <a:buClr>
                <a:schemeClr val="tx1"/>
              </a:buClr>
              <a:buFont typeface="Wingdings" panose="05000000000000000000" pitchFamily="2" charset="2"/>
              <a:buChar char="Ø"/>
            </a:pPr>
            <a:r>
              <a:rPr lang="en-US" sz="2400" dirty="0">
                <a:latin typeface="+mj-lt"/>
              </a:rPr>
              <a:t>Objective</a:t>
            </a:r>
          </a:p>
          <a:p>
            <a:pPr>
              <a:lnSpc>
                <a:spcPct val="150000"/>
              </a:lnSpc>
              <a:buClr>
                <a:schemeClr val="tx1"/>
              </a:buClr>
              <a:buFont typeface="Wingdings" panose="05000000000000000000" pitchFamily="2" charset="2"/>
              <a:buChar char="Ø"/>
            </a:pPr>
            <a:r>
              <a:rPr lang="en-US" sz="2400" dirty="0">
                <a:latin typeface="+mj-lt"/>
              </a:rPr>
              <a:t>Steps Performed</a:t>
            </a:r>
          </a:p>
          <a:p>
            <a:pPr>
              <a:lnSpc>
                <a:spcPct val="150000"/>
              </a:lnSpc>
              <a:buClr>
                <a:schemeClr val="tx1"/>
              </a:buClr>
              <a:buFont typeface="Wingdings" panose="05000000000000000000" pitchFamily="2" charset="2"/>
              <a:buChar char="Ø"/>
            </a:pPr>
            <a:r>
              <a:rPr lang="en-US" sz="2400" dirty="0">
                <a:latin typeface="+mj-lt"/>
              </a:rPr>
              <a:t>Data Cleaning &amp; Manipulation</a:t>
            </a:r>
          </a:p>
          <a:p>
            <a:pPr>
              <a:lnSpc>
                <a:spcPct val="150000"/>
              </a:lnSpc>
              <a:buFont typeface="Wingdings" panose="05000000000000000000" pitchFamily="2" charset="2"/>
              <a:buChar char="Ø"/>
            </a:pPr>
            <a:r>
              <a:rPr lang="en-US" sz="2400" dirty="0">
                <a:latin typeface="+mj-lt"/>
              </a:rPr>
              <a:t>Data Visualization &amp; Insights</a:t>
            </a:r>
          </a:p>
          <a:p>
            <a:pPr>
              <a:lnSpc>
                <a:spcPct val="150000"/>
              </a:lnSpc>
              <a:buFont typeface="Wingdings" panose="05000000000000000000" pitchFamily="2" charset="2"/>
              <a:buChar char="Ø"/>
            </a:pPr>
            <a:r>
              <a:rPr lang="en-US" sz="2400" dirty="0" err="1">
                <a:latin typeface="+mj-lt"/>
              </a:rPr>
              <a:t>ChallengeS</a:t>
            </a:r>
            <a:r>
              <a:rPr lang="en-US" sz="2400" dirty="0">
                <a:latin typeface="+mj-lt"/>
              </a:rPr>
              <a:t>  </a:t>
            </a:r>
            <a:r>
              <a:rPr lang="en-US" sz="2400" dirty="0" err="1">
                <a:latin typeface="+mj-lt"/>
              </a:rPr>
              <a:t>faceD</a:t>
            </a:r>
            <a:endParaRPr lang="en-US" sz="2400" dirty="0">
              <a:latin typeface="+mj-lt"/>
            </a:endParaRPr>
          </a:p>
          <a:p>
            <a:pPr>
              <a:lnSpc>
                <a:spcPct val="150000"/>
              </a:lnSpc>
              <a:buClr>
                <a:schemeClr val="tx1"/>
              </a:buClr>
              <a:buFont typeface="Wingdings" panose="05000000000000000000" pitchFamily="2" charset="2"/>
              <a:buChar char="Ø"/>
            </a:pPr>
            <a:r>
              <a:rPr lang="en-US" sz="2400" dirty="0">
                <a:latin typeface="+mj-lt"/>
                <a:ea typeface="Satisfy"/>
                <a:cs typeface="Satisfy"/>
              </a:rPr>
              <a:t>Conclusion </a:t>
            </a:r>
            <a:endParaRPr lang="en-US" sz="2400" dirty="0">
              <a:latin typeface="+mj-lt"/>
              <a:ea typeface="Satisfy"/>
              <a:cs typeface="Satisfy"/>
              <a:sym typeface="Satisfy"/>
            </a:endParaRPr>
          </a:p>
          <a:p>
            <a:endParaRPr lang="en-IN" dirty="0"/>
          </a:p>
        </p:txBody>
      </p:sp>
    </p:spTree>
    <p:extLst>
      <p:ext uri="{BB962C8B-B14F-4D97-AF65-F5344CB8AC3E}">
        <p14:creationId xmlns:p14="http://schemas.microsoft.com/office/powerpoint/2010/main" val="42337315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34639-6265-0925-8420-885B0402B955}"/>
              </a:ext>
            </a:extLst>
          </p:cNvPr>
          <p:cNvSpPr>
            <a:spLocks noGrp="1"/>
          </p:cNvSpPr>
          <p:nvPr>
            <p:ph type="title"/>
          </p:nvPr>
        </p:nvSpPr>
        <p:spPr>
          <a:xfrm>
            <a:off x="913776" y="618517"/>
            <a:ext cx="2888204" cy="1041841"/>
          </a:xfrm>
        </p:spPr>
        <p:txBody>
          <a:bodyPr>
            <a:normAutofit/>
          </a:bodyPr>
          <a:lstStyle/>
          <a:p>
            <a:pPr algn="l"/>
            <a:r>
              <a:rPr lang="en-US" sz="3200" dirty="0">
                <a:solidFill>
                  <a:schemeClr val="accent3">
                    <a:lumMod val="75000"/>
                  </a:schemeClr>
                </a:solidFill>
                <a:latin typeface="Tw Cen MT" pitchFamily="34" charset="0"/>
              </a:rPr>
              <a:t>Objective</a:t>
            </a:r>
            <a:endParaRPr lang="en-IN" sz="3200" dirty="0">
              <a:solidFill>
                <a:schemeClr val="accent3">
                  <a:lumMod val="75000"/>
                </a:schemeClr>
              </a:solidFill>
            </a:endParaRPr>
          </a:p>
        </p:txBody>
      </p:sp>
      <p:sp>
        <p:nvSpPr>
          <p:cNvPr id="3" name="Content Placeholder 2">
            <a:extLst>
              <a:ext uri="{FF2B5EF4-FFF2-40B4-BE49-F238E27FC236}">
                <a16:creationId xmlns:a16="http://schemas.microsoft.com/office/drawing/2014/main" id="{386EB2A8-F641-0035-830C-46C64CD34FD2}"/>
              </a:ext>
            </a:extLst>
          </p:cNvPr>
          <p:cNvSpPr>
            <a:spLocks noGrp="1"/>
          </p:cNvSpPr>
          <p:nvPr>
            <p:ph sz="quarter" idx="13"/>
          </p:nvPr>
        </p:nvSpPr>
        <p:spPr>
          <a:xfrm>
            <a:off x="913776" y="1829682"/>
            <a:ext cx="10363826" cy="3688803"/>
          </a:xfrm>
        </p:spPr>
        <p:txBody>
          <a:bodyPr>
            <a:normAutofit fontScale="62500" lnSpcReduction="20000"/>
          </a:bodyPr>
          <a:lstStyle/>
          <a:p>
            <a:r>
              <a:rPr lang="en-US" sz="2600" dirty="0">
                <a:latin typeface="+mj-lt"/>
              </a:rPr>
              <a:t>The ultimate goal of this project is to provide </a:t>
            </a:r>
            <a:r>
              <a:rPr lang="en-US" sz="2600" b="1" dirty="0">
                <a:latin typeface="+mj-lt"/>
              </a:rPr>
              <a:t>actionable insights</a:t>
            </a:r>
            <a:r>
              <a:rPr lang="en-US" sz="2600" dirty="0">
                <a:latin typeface="+mj-lt"/>
              </a:rPr>
              <a:t> to stakeholders at Retail Nova Inc. by analyzing end-to-end retail data across sales, customers, products, stores, and returns.</a:t>
            </a:r>
          </a:p>
          <a:p>
            <a:r>
              <a:rPr lang="en-US" sz="2600" dirty="0">
                <a:latin typeface="+mj-lt"/>
              </a:rPr>
              <a:t>This data-driven approach will help:</a:t>
            </a:r>
          </a:p>
          <a:p>
            <a:r>
              <a:rPr lang="en-US" sz="2600" dirty="0">
                <a:latin typeface="+mj-lt"/>
              </a:rPr>
              <a:t>Understand </a:t>
            </a:r>
            <a:r>
              <a:rPr lang="en-US" sz="2600" b="1" dirty="0">
                <a:latin typeface="+mj-lt"/>
              </a:rPr>
              <a:t>customer behavior and segmentation</a:t>
            </a:r>
            <a:endParaRPr lang="en-US" sz="2600" dirty="0">
              <a:latin typeface="+mj-lt"/>
            </a:endParaRPr>
          </a:p>
          <a:p>
            <a:r>
              <a:rPr lang="en-US" sz="2600" dirty="0">
                <a:latin typeface="+mj-lt"/>
              </a:rPr>
              <a:t>Identify </a:t>
            </a:r>
            <a:r>
              <a:rPr lang="en-US" sz="2600" b="1" dirty="0">
                <a:latin typeface="+mj-lt"/>
              </a:rPr>
              <a:t>top-performing products and stores</a:t>
            </a:r>
            <a:endParaRPr lang="en-US" sz="2600" dirty="0">
              <a:latin typeface="+mj-lt"/>
            </a:endParaRPr>
          </a:p>
          <a:p>
            <a:r>
              <a:rPr lang="en-US" sz="2600" dirty="0">
                <a:latin typeface="+mj-lt"/>
              </a:rPr>
              <a:t>Analyze </a:t>
            </a:r>
            <a:r>
              <a:rPr lang="en-US" sz="2600" b="1" dirty="0">
                <a:latin typeface="+mj-lt"/>
              </a:rPr>
              <a:t>return patterns</a:t>
            </a:r>
            <a:r>
              <a:rPr lang="en-US" sz="2600" dirty="0">
                <a:latin typeface="+mj-lt"/>
              </a:rPr>
              <a:t> and reduce loss</a:t>
            </a:r>
          </a:p>
          <a:p>
            <a:r>
              <a:rPr lang="en-US" sz="2600" dirty="0">
                <a:latin typeface="+mj-lt"/>
              </a:rPr>
              <a:t>Optimize </a:t>
            </a:r>
            <a:r>
              <a:rPr lang="en-US" sz="2600" b="1" dirty="0">
                <a:latin typeface="+mj-lt"/>
              </a:rPr>
              <a:t>regional profitability and inventory</a:t>
            </a:r>
            <a:endParaRPr lang="en-US" sz="2600" dirty="0">
              <a:latin typeface="+mj-lt"/>
            </a:endParaRPr>
          </a:p>
          <a:p>
            <a:r>
              <a:rPr lang="en-US" sz="2600" dirty="0">
                <a:latin typeface="+mj-lt"/>
              </a:rPr>
              <a:t>Support leadership with </a:t>
            </a:r>
            <a:r>
              <a:rPr lang="en-US" sz="2600" b="1" dirty="0">
                <a:latin typeface="+mj-lt"/>
              </a:rPr>
              <a:t>interactive dashboards</a:t>
            </a:r>
            <a:r>
              <a:rPr lang="en-US" sz="2600" dirty="0">
                <a:latin typeface="+mj-lt"/>
              </a:rPr>
              <a:t> for strategic decisions</a:t>
            </a:r>
          </a:p>
          <a:p>
            <a:r>
              <a:rPr lang="en-US" sz="2600" dirty="0">
                <a:latin typeface="+mj-lt"/>
              </a:rPr>
              <a:t>By leveraging SQL, Python, and Power BI, the project aims to transform raw data into </a:t>
            </a:r>
            <a:r>
              <a:rPr lang="en-US" sz="2600" b="1" dirty="0">
                <a:latin typeface="+mj-lt"/>
              </a:rPr>
              <a:t>business intelligence</a:t>
            </a:r>
            <a:r>
              <a:rPr lang="en-US" sz="2600" dirty="0">
                <a:latin typeface="+mj-lt"/>
              </a:rPr>
              <a:t> that drives growth, improves efficiency, and enhances customer satisfaction across both online and offline channels.</a:t>
            </a:r>
          </a:p>
          <a:p>
            <a:endParaRPr lang="en-IN" dirty="0"/>
          </a:p>
        </p:txBody>
      </p:sp>
    </p:spTree>
    <p:extLst>
      <p:ext uri="{BB962C8B-B14F-4D97-AF65-F5344CB8AC3E}">
        <p14:creationId xmlns:p14="http://schemas.microsoft.com/office/powerpoint/2010/main" val="3413776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C788C-79BF-3103-ABC8-73E848601108}"/>
              </a:ext>
            </a:extLst>
          </p:cNvPr>
          <p:cNvSpPr>
            <a:spLocks noGrp="1"/>
          </p:cNvSpPr>
          <p:nvPr>
            <p:ph type="title"/>
          </p:nvPr>
        </p:nvSpPr>
        <p:spPr>
          <a:xfrm>
            <a:off x="913774" y="618518"/>
            <a:ext cx="10291636" cy="1138094"/>
          </a:xfrm>
        </p:spPr>
        <p:txBody>
          <a:bodyPr>
            <a:normAutofit/>
          </a:bodyPr>
          <a:lstStyle/>
          <a:p>
            <a:pPr algn="l"/>
            <a:r>
              <a:rPr lang="en-US" sz="3200" dirty="0">
                <a:solidFill>
                  <a:srgbClr val="7030A0"/>
                </a:solidFill>
                <a:latin typeface="Tw Cen MT" panose="020B0602020104020603" pitchFamily="34" charset="0"/>
              </a:rPr>
              <a:t>Steps Performed</a:t>
            </a:r>
            <a:endParaRPr lang="en-IN" sz="3200" dirty="0">
              <a:solidFill>
                <a:srgbClr val="7030A0"/>
              </a:solidFill>
            </a:endParaRPr>
          </a:p>
        </p:txBody>
      </p:sp>
      <p:sp>
        <p:nvSpPr>
          <p:cNvPr id="3" name="Content Placeholder 2">
            <a:extLst>
              <a:ext uri="{FF2B5EF4-FFF2-40B4-BE49-F238E27FC236}">
                <a16:creationId xmlns:a16="http://schemas.microsoft.com/office/drawing/2014/main" id="{702B194F-57B7-53F7-30C3-64ABFEF9F950}"/>
              </a:ext>
            </a:extLst>
          </p:cNvPr>
          <p:cNvSpPr>
            <a:spLocks noGrp="1"/>
          </p:cNvSpPr>
          <p:nvPr>
            <p:ph sz="quarter" idx="13"/>
          </p:nvPr>
        </p:nvSpPr>
        <p:spPr/>
        <p:txBody>
          <a:bodyPr/>
          <a:lstStyle/>
          <a:p>
            <a:pPr marL="0" indent="0">
              <a:buNone/>
            </a:pPr>
            <a:r>
              <a:rPr lang="en-US" sz="2800" dirty="0">
                <a:latin typeface="Arial" panose="020B0604020202020204" pitchFamily="34" charset="0"/>
                <a:cs typeface="Arial" panose="020B0604020202020204" pitchFamily="34" charset="0"/>
              </a:rPr>
              <a:t>1. Data Cleaning and Manipulation </a:t>
            </a:r>
          </a:p>
          <a:p>
            <a:pPr marL="0" indent="0">
              <a:buNone/>
            </a:pPr>
            <a:r>
              <a:rPr lang="en-US" sz="2800" dirty="0">
                <a:latin typeface="Arial" panose="020B0604020202020204" pitchFamily="34" charset="0"/>
                <a:cs typeface="Arial" panose="020B0604020202020204" pitchFamily="34" charset="0"/>
              </a:rPr>
              <a:t>2. Visualization</a:t>
            </a:r>
          </a:p>
          <a:p>
            <a:pPr marL="0" indent="0">
              <a:buNone/>
            </a:pPr>
            <a:endParaRPr lang="en-IN" dirty="0"/>
          </a:p>
        </p:txBody>
      </p:sp>
    </p:spTree>
    <p:extLst>
      <p:ext uri="{BB962C8B-B14F-4D97-AF65-F5344CB8AC3E}">
        <p14:creationId xmlns:p14="http://schemas.microsoft.com/office/powerpoint/2010/main" val="36451615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55B90-4733-A5E9-7E4F-BC5D3A18CEBB}"/>
              </a:ext>
            </a:extLst>
          </p:cNvPr>
          <p:cNvSpPr>
            <a:spLocks noGrp="1"/>
          </p:cNvSpPr>
          <p:nvPr>
            <p:ph type="title"/>
          </p:nvPr>
        </p:nvSpPr>
        <p:spPr>
          <a:xfrm>
            <a:off x="913775" y="618518"/>
            <a:ext cx="10364451" cy="729020"/>
          </a:xfrm>
        </p:spPr>
        <p:txBody>
          <a:bodyPr>
            <a:normAutofit/>
          </a:bodyPr>
          <a:lstStyle/>
          <a:p>
            <a:pPr algn="l"/>
            <a:r>
              <a:rPr lang="en-US" sz="3200" dirty="0">
                <a:solidFill>
                  <a:srgbClr val="7030A0"/>
                </a:solidFill>
                <a:latin typeface="Arial" panose="020B0604020202020204" pitchFamily="34" charset="0"/>
                <a:cs typeface="Arial" panose="020B0604020202020204" pitchFamily="34" charset="0"/>
              </a:rPr>
              <a:t>Data Cleaning and Manipulation </a:t>
            </a:r>
            <a:endParaRPr lang="en-IN" sz="3200" dirty="0">
              <a:solidFill>
                <a:srgbClr val="7030A0"/>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600297F0-CB70-4C7E-3266-81BA67372D11}"/>
              </a:ext>
            </a:extLst>
          </p:cNvPr>
          <p:cNvSpPr>
            <a:spLocks noGrp="1"/>
          </p:cNvSpPr>
          <p:nvPr>
            <p:ph sz="quarter" idx="13"/>
          </p:nvPr>
        </p:nvSpPr>
        <p:spPr>
          <a:xfrm>
            <a:off x="913775" y="2367092"/>
            <a:ext cx="8077826" cy="3424107"/>
          </a:xfrm>
        </p:spPr>
        <p:txBody>
          <a:bodyPr>
            <a:normAutofit/>
          </a:bodyPr>
          <a:lstStyle/>
          <a:p>
            <a:pPr algn="just"/>
            <a:r>
              <a:rPr lang="en-US" sz="1600" dirty="0">
                <a:solidFill>
                  <a:srgbClr val="001D35"/>
                </a:solidFill>
                <a:latin typeface="Trebuchet MS" panose="020B0603020202020204" pitchFamily="34" charset="0"/>
                <a:cs typeface="Arial" panose="020B0604020202020204" pitchFamily="34" charset="0"/>
              </a:rPr>
              <a:t>"Data Cleaning and Manipulation" refers to </a:t>
            </a:r>
            <a:r>
              <a:rPr lang="en-US" sz="1600" dirty="0">
                <a:latin typeface="Trebuchet MS" panose="020B0603020202020204" pitchFamily="34" charset="0"/>
                <a:cs typeface="Arial" panose="020B0604020202020204" pitchFamily="34" charset="0"/>
              </a:rPr>
              <a:t>the process of identifying and correcting errors, inconsistencies, and formatting issues within a dataset to ensure its quality and reliability for analysis.</a:t>
            </a:r>
          </a:p>
          <a:p>
            <a:pPr algn="just"/>
            <a:endParaRPr lang="en-US" sz="1600" dirty="0">
              <a:latin typeface="Trebuchet MS" panose="020B0603020202020204" pitchFamily="34" charset="0"/>
              <a:cs typeface="Arial" panose="020B0604020202020204" pitchFamily="34" charset="0"/>
            </a:endParaRPr>
          </a:p>
          <a:p>
            <a:pPr algn="just"/>
            <a:r>
              <a:rPr lang="en-US" sz="1600" dirty="0">
                <a:latin typeface="Trebuchet MS" panose="020B0603020202020204" pitchFamily="34" charset="0"/>
                <a:cs typeface="Arial" panose="020B0604020202020204" pitchFamily="34" charset="0"/>
              </a:rPr>
              <a:t>Here, The Data Cleaning is Performed used Pandas Library and also Power Query.</a:t>
            </a:r>
          </a:p>
          <a:p>
            <a:pPr algn="just"/>
            <a:endParaRPr lang="en-US" sz="1600" dirty="0">
              <a:latin typeface="Trebuchet MS" panose="020B0603020202020204" pitchFamily="34" charset="0"/>
              <a:cs typeface="Arial" panose="020B0604020202020204" pitchFamily="34" charset="0"/>
            </a:endParaRPr>
          </a:p>
          <a:p>
            <a:pPr algn="just"/>
            <a:r>
              <a:rPr lang="en-US" sz="1600" dirty="0">
                <a:latin typeface="Trebuchet MS" panose="020B0603020202020204" pitchFamily="34" charset="0"/>
                <a:cs typeface="Arial" panose="020B0604020202020204" pitchFamily="34" charset="0"/>
              </a:rPr>
              <a:t>Manipulation includes adding discount columns, </a:t>
            </a:r>
            <a:r>
              <a:rPr lang="en-IN" sz="1600" dirty="0">
                <a:solidFill>
                  <a:srgbClr val="001D35"/>
                </a:solidFill>
                <a:latin typeface="Trebuchet MS" panose="020B0603020202020204" pitchFamily="34" charset="0"/>
                <a:cs typeface="Arial" panose="020B0604020202020204" pitchFamily="34" charset="0"/>
              </a:rPr>
              <a:t>handling missing values, standardizing data types etc</a:t>
            </a:r>
            <a:r>
              <a:rPr lang="en-IN" sz="1700" dirty="0">
                <a:solidFill>
                  <a:srgbClr val="001D35"/>
                </a:solidFill>
                <a:latin typeface="Trebuchet MS" panose="020B0603020202020204" pitchFamily="34" charset="0"/>
                <a:cs typeface="Arial" panose="020B0604020202020204" pitchFamily="34" charset="0"/>
              </a:rPr>
              <a:t>.</a:t>
            </a:r>
            <a:endParaRPr lang="en-IN" sz="1700" dirty="0">
              <a:latin typeface="Trebuchet MS" panose="020B0603020202020204" pitchFamily="34" charset="0"/>
              <a:cs typeface="Arial" panose="020B0604020202020204" pitchFamily="34" charset="0"/>
            </a:endParaRPr>
          </a:p>
          <a:p>
            <a:endParaRPr lang="en-IN" dirty="0"/>
          </a:p>
        </p:txBody>
      </p:sp>
      <p:pic>
        <p:nvPicPr>
          <p:cNvPr id="4" name="Picture 3">
            <a:extLst>
              <a:ext uri="{FF2B5EF4-FFF2-40B4-BE49-F238E27FC236}">
                <a16:creationId xmlns:a16="http://schemas.microsoft.com/office/drawing/2014/main" id="{C8740399-0E77-BB98-313C-2930B8CF8044}"/>
              </a:ext>
            </a:extLst>
          </p:cNvPr>
          <p:cNvPicPr>
            <a:picLocks noChangeAspect="1"/>
          </p:cNvPicPr>
          <p:nvPr/>
        </p:nvPicPr>
        <p:blipFill>
          <a:blip r:embed="rId2">
            <a:alphaModFix amt="35000"/>
          </a:blip>
          <a:stretch>
            <a:fillRect/>
          </a:stretch>
        </p:blipFill>
        <p:spPr>
          <a:xfrm rot="308043">
            <a:off x="9975292" y="3498501"/>
            <a:ext cx="1598933" cy="1017149"/>
          </a:xfrm>
          <a:prstGeom prst="rect">
            <a:avLst/>
          </a:prstGeom>
        </p:spPr>
      </p:pic>
      <p:pic>
        <p:nvPicPr>
          <p:cNvPr id="5" name="Picture 4">
            <a:extLst>
              <a:ext uri="{FF2B5EF4-FFF2-40B4-BE49-F238E27FC236}">
                <a16:creationId xmlns:a16="http://schemas.microsoft.com/office/drawing/2014/main" id="{236CEB3A-FF41-15E9-9D43-451F15BCDF91}"/>
              </a:ext>
            </a:extLst>
          </p:cNvPr>
          <p:cNvPicPr>
            <a:picLocks noChangeAspect="1"/>
          </p:cNvPicPr>
          <p:nvPr/>
        </p:nvPicPr>
        <p:blipFill>
          <a:blip r:embed="rId3">
            <a:alphaModFix amt="35000"/>
          </a:blip>
          <a:stretch>
            <a:fillRect/>
          </a:stretch>
        </p:blipFill>
        <p:spPr>
          <a:xfrm rot="669328">
            <a:off x="9804326" y="1336398"/>
            <a:ext cx="1832483" cy="1237914"/>
          </a:xfrm>
          <a:prstGeom prst="rect">
            <a:avLst/>
          </a:prstGeom>
        </p:spPr>
      </p:pic>
      <p:pic>
        <p:nvPicPr>
          <p:cNvPr id="6" name="Picture 5">
            <a:extLst>
              <a:ext uri="{FF2B5EF4-FFF2-40B4-BE49-F238E27FC236}">
                <a16:creationId xmlns:a16="http://schemas.microsoft.com/office/drawing/2014/main" id="{D29C5CCB-A2A2-BC98-E97D-A0FE8104B31C}"/>
              </a:ext>
            </a:extLst>
          </p:cNvPr>
          <p:cNvPicPr>
            <a:picLocks noChangeAspect="1"/>
          </p:cNvPicPr>
          <p:nvPr/>
        </p:nvPicPr>
        <p:blipFill>
          <a:blip r:embed="rId4">
            <a:alphaModFix amt="35000"/>
          </a:blip>
          <a:stretch>
            <a:fillRect/>
          </a:stretch>
        </p:blipFill>
        <p:spPr>
          <a:xfrm rot="20968554">
            <a:off x="10038102" y="5341205"/>
            <a:ext cx="1619562" cy="1042517"/>
          </a:xfrm>
          <a:prstGeom prst="rect">
            <a:avLst/>
          </a:prstGeom>
        </p:spPr>
      </p:pic>
    </p:spTree>
    <p:extLst>
      <p:ext uri="{BB962C8B-B14F-4D97-AF65-F5344CB8AC3E}">
        <p14:creationId xmlns:p14="http://schemas.microsoft.com/office/powerpoint/2010/main" val="35966589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0E881B-A984-37D3-3D03-79CAF09BC4C7}"/>
              </a:ext>
            </a:extLst>
          </p:cNvPr>
          <p:cNvSpPr>
            <a:spLocks noGrp="1"/>
          </p:cNvSpPr>
          <p:nvPr>
            <p:ph type="title" idx="4294967295"/>
          </p:nvPr>
        </p:nvSpPr>
        <p:spPr>
          <a:xfrm>
            <a:off x="1042737" y="830346"/>
            <a:ext cx="4219575" cy="809625"/>
          </a:xfrm>
        </p:spPr>
        <p:txBody>
          <a:bodyPr>
            <a:normAutofit/>
          </a:bodyPr>
          <a:lstStyle/>
          <a:p>
            <a:pPr algn="l"/>
            <a:r>
              <a:rPr lang="en-US" sz="3200" dirty="0">
                <a:solidFill>
                  <a:srgbClr val="7030A0"/>
                </a:solidFill>
              </a:rPr>
              <a:t>Data Visualization</a:t>
            </a:r>
            <a:endParaRPr lang="en-IN" sz="3200" dirty="0">
              <a:solidFill>
                <a:srgbClr val="7030A0"/>
              </a:solidFill>
            </a:endParaRPr>
          </a:p>
        </p:txBody>
      </p:sp>
      <p:sp>
        <p:nvSpPr>
          <p:cNvPr id="3" name="Content Placeholder 2">
            <a:extLst>
              <a:ext uri="{FF2B5EF4-FFF2-40B4-BE49-F238E27FC236}">
                <a16:creationId xmlns:a16="http://schemas.microsoft.com/office/drawing/2014/main" id="{A06BB311-40A3-3B6E-94B8-14043976F5A7}"/>
              </a:ext>
            </a:extLst>
          </p:cNvPr>
          <p:cNvSpPr>
            <a:spLocks noGrp="1"/>
          </p:cNvSpPr>
          <p:nvPr>
            <p:ph sz="quarter" idx="4294967295"/>
          </p:nvPr>
        </p:nvSpPr>
        <p:spPr>
          <a:xfrm>
            <a:off x="770021" y="2134185"/>
            <a:ext cx="8623300" cy="3705225"/>
          </a:xfrm>
        </p:spPr>
        <p:txBody>
          <a:bodyPr>
            <a:normAutofit fontScale="85000" lnSpcReduction="20000"/>
          </a:bodyPr>
          <a:lstStyle/>
          <a:p>
            <a:pPr algn="just"/>
            <a:r>
              <a:rPr lang="en-US" sz="1900" dirty="0">
                <a:solidFill>
                  <a:srgbClr val="1F1F1F"/>
                </a:solidFill>
                <a:latin typeface="Arial" panose="020B0604020202020204" pitchFamily="34" charset="0"/>
                <a:cs typeface="Arial" panose="020B0604020202020204" pitchFamily="34" charset="0"/>
              </a:rPr>
              <a:t>Data visualization is </a:t>
            </a:r>
            <a:r>
              <a:rPr lang="en-US" sz="1900" dirty="0">
                <a:solidFill>
                  <a:srgbClr val="040C28"/>
                </a:solidFill>
                <a:latin typeface="Arial" panose="020B0604020202020204" pitchFamily="34" charset="0"/>
                <a:cs typeface="Arial" panose="020B0604020202020204" pitchFamily="34" charset="0"/>
              </a:rPr>
              <a:t>the graphical representation of information and data</a:t>
            </a:r>
            <a:r>
              <a:rPr lang="en-US" sz="1900" dirty="0">
                <a:solidFill>
                  <a:srgbClr val="1F1F1F"/>
                </a:solidFill>
                <a:latin typeface="Arial" panose="020B0604020202020204" pitchFamily="34" charset="0"/>
                <a:cs typeface="Arial" panose="020B0604020202020204" pitchFamily="34" charset="0"/>
              </a:rPr>
              <a:t>. By using visual elements like charts, graphs, and maps, data visualization tools provide an accessible way to see and understand trends, outliers, and patterns in data.</a:t>
            </a:r>
          </a:p>
          <a:p>
            <a:pPr algn="just"/>
            <a:endParaRPr lang="en-US" sz="1900" dirty="0">
              <a:solidFill>
                <a:srgbClr val="1F1F1F"/>
              </a:solidFill>
              <a:latin typeface="Arial" panose="020B0604020202020204" pitchFamily="34" charset="0"/>
              <a:cs typeface="Arial" panose="020B0604020202020204" pitchFamily="34" charset="0"/>
            </a:endParaRPr>
          </a:p>
          <a:p>
            <a:pPr algn="just"/>
            <a:r>
              <a:rPr lang="en-US" sz="1900" b="1" dirty="0">
                <a:solidFill>
                  <a:srgbClr val="202122"/>
                </a:solidFill>
                <a:latin typeface="Arial" panose="020B0604020202020204" pitchFamily="34" charset="0"/>
                <a:cs typeface="Arial" panose="020B0604020202020204" pitchFamily="34" charset="0"/>
              </a:rPr>
              <a:t>Microsoft Power BI</a:t>
            </a:r>
            <a:r>
              <a:rPr lang="en-US" sz="1900" dirty="0">
                <a:solidFill>
                  <a:srgbClr val="202122"/>
                </a:solidFill>
                <a:latin typeface="Arial" panose="020B0604020202020204" pitchFamily="34" charset="0"/>
                <a:cs typeface="Arial" panose="020B0604020202020204" pitchFamily="34" charset="0"/>
              </a:rPr>
              <a:t> is an interactive </a:t>
            </a:r>
            <a:r>
              <a:rPr lang="en-US" sz="1900" dirty="0">
                <a:solidFill>
                  <a:srgbClr val="7030A0"/>
                </a:solidFill>
                <a:latin typeface="Arial" panose="020B0604020202020204" pitchFamily="34" charset="0"/>
                <a:cs typeface="Arial" panose="020B0604020202020204" pitchFamily="34" charset="0"/>
                <a:hlinkClick r:id="rId2" tooltip="Data visualization">
                  <a:extLst>
                    <a:ext uri="{A12FA001-AC4F-418D-AE19-62706E023703}">
                      <ahyp:hlinkClr xmlns:ahyp="http://schemas.microsoft.com/office/drawing/2018/hyperlinkcolor" val="tx"/>
                    </a:ext>
                  </a:extLst>
                </a:hlinkClick>
              </a:rPr>
              <a:t>data visualization</a:t>
            </a:r>
            <a:r>
              <a:rPr lang="en-US" sz="1900" dirty="0">
                <a:solidFill>
                  <a:srgbClr val="7030A0"/>
                </a:solidFill>
                <a:latin typeface="Arial" panose="020B0604020202020204" pitchFamily="34" charset="0"/>
                <a:cs typeface="Arial" panose="020B0604020202020204" pitchFamily="34" charset="0"/>
              </a:rPr>
              <a:t> </a:t>
            </a:r>
            <a:r>
              <a:rPr lang="en-US" sz="1900" dirty="0">
                <a:solidFill>
                  <a:srgbClr val="202122"/>
                </a:solidFill>
                <a:latin typeface="Arial" panose="020B0604020202020204" pitchFamily="34" charset="0"/>
                <a:cs typeface="Arial" panose="020B0604020202020204" pitchFamily="34" charset="0"/>
              </a:rPr>
              <a:t>software product developed by </a:t>
            </a:r>
            <a:r>
              <a:rPr lang="en-US" sz="1900" dirty="0">
                <a:solidFill>
                  <a:srgbClr val="7030A0"/>
                </a:solidFill>
                <a:latin typeface="Arial" panose="020B0604020202020204" pitchFamily="34" charset="0"/>
                <a:cs typeface="Arial" panose="020B0604020202020204" pitchFamily="34" charset="0"/>
                <a:hlinkClick r:id="rId3" tooltip="Microsoft">
                  <a:extLst>
                    <a:ext uri="{A12FA001-AC4F-418D-AE19-62706E023703}">
                      <ahyp:hlinkClr xmlns:ahyp="http://schemas.microsoft.com/office/drawing/2018/hyperlinkcolor" val="tx"/>
                    </a:ext>
                  </a:extLst>
                </a:hlinkClick>
              </a:rPr>
              <a:t>Microsoft</a:t>
            </a:r>
            <a:r>
              <a:rPr lang="en-US" sz="1900" dirty="0">
                <a:solidFill>
                  <a:srgbClr val="7030A0"/>
                </a:solidFill>
                <a:latin typeface="Arial" panose="020B0604020202020204" pitchFamily="34" charset="0"/>
                <a:cs typeface="Arial" panose="020B0604020202020204" pitchFamily="34" charset="0"/>
              </a:rPr>
              <a:t> </a:t>
            </a:r>
            <a:r>
              <a:rPr lang="en-US" sz="1900" dirty="0">
                <a:solidFill>
                  <a:srgbClr val="202122"/>
                </a:solidFill>
                <a:latin typeface="Arial" panose="020B0604020202020204" pitchFamily="34" charset="0"/>
                <a:cs typeface="Arial" panose="020B0604020202020204" pitchFamily="34" charset="0"/>
              </a:rPr>
              <a:t>with a primary focus on </a:t>
            </a:r>
            <a:r>
              <a:rPr lang="en-US" sz="1900" dirty="0">
                <a:solidFill>
                  <a:srgbClr val="7030A0"/>
                </a:solidFill>
                <a:latin typeface="Arial" panose="020B0604020202020204" pitchFamily="34" charset="0"/>
                <a:cs typeface="Arial" panose="020B0604020202020204" pitchFamily="34" charset="0"/>
              </a:rPr>
              <a:t>B</a:t>
            </a:r>
            <a:r>
              <a:rPr lang="en-US" sz="1900" dirty="0">
                <a:solidFill>
                  <a:srgbClr val="7030A0"/>
                </a:solidFill>
                <a:latin typeface="Arial" panose="020B0604020202020204" pitchFamily="34" charset="0"/>
                <a:cs typeface="Arial" panose="020B0604020202020204" pitchFamily="34" charset="0"/>
                <a:hlinkClick r:id="rId4" tooltip="Business intelligence">
                  <a:extLst>
                    <a:ext uri="{A12FA001-AC4F-418D-AE19-62706E023703}">
                      <ahyp:hlinkClr xmlns:ahyp="http://schemas.microsoft.com/office/drawing/2018/hyperlinkcolor" val="tx"/>
                    </a:ext>
                  </a:extLst>
                </a:hlinkClick>
              </a:rPr>
              <a:t>usiness</a:t>
            </a:r>
            <a:r>
              <a:rPr lang="en-US" sz="1900" dirty="0">
                <a:solidFill>
                  <a:srgbClr val="ED87A6"/>
                </a:solidFill>
                <a:latin typeface="Arial" panose="020B0604020202020204" pitchFamily="34" charset="0"/>
                <a:cs typeface="Arial" panose="020B0604020202020204" pitchFamily="34" charset="0"/>
                <a:hlinkClick r:id="rId4" tooltip="Business intelligence">
                  <a:extLst>
                    <a:ext uri="{A12FA001-AC4F-418D-AE19-62706E023703}">
                      <ahyp:hlinkClr xmlns:ahyp="http://schemas.microsoft.com/office/drawing/2018/hyperlinkcolor" val="tx"/>
                    </a:ext>
                  </a:extLst>
                </a:hlinkClick>
              </a:rPr>
              <a:t> </a:t>
            </a:r>
            <a:r>
              <a:rPr lang="en-US" sz="1900" dirty="0">
                <a:solidFill>
                  <a:srgbClr val="7030A0"/>
                </a:solidFill>
                <a:latin typeface="Arial" panose="020B0604020202020204" pitchFamily="34" charset="0"/>
                <a:cs typeface="Arial" panose="020B0604020202020204" pitchFamily="34" charset="0"/>
                <a:hlinkClick r:id="rId4" tooltip="Business intelligence">
                  <a:extLst>
                    <a:ext uri="{A12FA001-AC4F-418D-AE19-62706E023703}">
                      <ahyp:hlinkClr xmlns:ahyp="http://schemas.microsoft.com/office/drawing/2018/hyperlinkcolor" val="tx"/>
                    </a:ext>
                  </a:extLst>
                </a:hlinkClick>
              </a:rPr>
              <a:t>Intelligence</a:t>
            </a:r>
            <a:r>
              <a:rPr lang="en-US" sz="1900" dirty="0">
                <a:solidFill>
                  <a:srgbClr val="7030A0"/>
                </a:solidFill>
                <a:latin typeface="Arial" panose="020B0604020202020204" pitchFamily="34" charset="0"/>
                <a:cs typeface="Arial" panose="020B0604020202020204" pitchFamily="34" charset="0"/>
              </a:rPr>
              <a:t> </a:t>
            </a:r>
            <a:r>
              <a:rPr lang="en-US" sz="1900" dirty="0">
                <a:solidFill>
                  <a:srgbClr val="202122"/>
                </a:solidFill>
                <a:latin typeface="Arial" panose="020B0604020202020204" pitchFamily="34" charset="0"/>
                <a:cs typeface="Arial" panose="020B0604020202020204" pitchFamily="34" charset="0"/>
              </a:rPr>
              <a:t>(BI).</a:t>
            </a:r>
          </a:p>
          <a:p>
            <a:pPr algn="just"/>
            <a:endParaRPr lang="en-US" sz="1900" dirty="0">
              <a:solidFill>
                <a:srgbClr val="202122"/>
              </a:solidFill>
              <a:latin typeface="Arial" panose="020B0604020202020204" pitchFamily="34" charset="0"/>
              <a:cs typeface="Arial" panose="020B0604020202020204" pitchFamily="34" charset="0"/>
            </a:endParaRPr>
          </a:p>
          <a:p>
            <a:pPr algn="just"/>
            <a:r>
              <a:rPr lang="en-US" sz="1900" dirty="0">
                <a:latin typeface="Arial" panose="020B0604020202020204" pitchFamily="34" charset="0"/>
                <a:cs typeface="Arial" panose="020B0604020202020204" pitchFamily="34" charset="0"/>
              </a:rPr>
              <a:t>Performed Visualization and Analysis on various factors like customers, stores, Returns etc. to analyze above problem statements. </a:t>
            </a:r>
            <a:endParaRPr lang="en-US" sz="1900" dirty="0">
              <a:solidFill>
                <a:srgbClr val="202122"/>
              </a:solidFill>
              <a:latin typeface="Arial" panose="020B0604020202020204" pitchFamily="34" charset="0"/>
              <a:cs typeface="Arial" panose="020B0604020202020204" pitchFamily="34" charset="0"/>
            </a:endParaRPr>
          </a:p>
          <a:p>
            <a:pPr marL="0" indent="0" algn="just">
              <a:buNone/>
            </a:pPr>
            <a:endParaRPr lang="en-US" sz="1900" dirty="0">
              <a:solidFill>
                <a:srgbClr val="202122"/>
              </a:solidFill>
              <a:latin typeface="Arial" panose="020B0604020202020204" pitchFamily="34" charset="0"/>
              <a:cs typeface="Arial" panose="020B0604020202020204" pitchFamily="34" charset="0"/>
            </a:endParaRPr>
          </a:p>
          <a:p>
            <a:pPr algn="just"/>
            <a:endParaRPr lang="en-US" sz="1900" dirty="0">
              <a:solidFill>
                <a:srgbClr val="202122"/>
              </a:solidFill>
              <a:latin typeface="Arial" panose="020B0604020202020204" pitchFamily="34" charset="0"/>
              <a:cs typeface="Arial" panose="020B0604020202020204" pitchFamily="34" charset="0"/>
            </a:endParaRPr>
          </a:p>
          <a:p>
            <a:endParaRPr lang="en-IN" dirty="0"/>
          </a:p>
        </p:txBody>
      </p:sp>
      <p:pic>
        <p:nvPicPr>
          <p:cNvPr id="4" name="Picture 3">
            <a:extLst>
              <a:ext uri="{FF2B5EF4-FFF2-40B4-BE49-F238E27FC236}">
                <a16:creationId xmlns:a16="http://schemas.microsoft.com/office/drawing/2014/main" id="{F88787F2-BECC-676C-07C7-9CA577D19376}"/>
              </a:ext>
            </a:extLst>
          </p:cNvPr>
          <p:cNvPicPr>
            <a:picLocks noChangeAspect="1"/>
          </p:cNvPicPr>
          <p:nvPr/>
        </p:nvPicPr>
        <p:blipFill>
          <a:blip r:embed="rId5">
            <a:alphaModFix amt="35000"/>
          </a:blip>
          <a:stretch>
            <a:fillRect/>
          </a:stretch>
        </p:blipFill>
        <p:spPr>
          <a:xfrm rot="308043">
            <a:off x="10061577" y="2807585"/>
            <a:ext cx="1786048" cy="1242832"/>
          </a:xfrm>
          <a:prstGeom prst="rect">
            <a:avLst/>
          </a:prstGeom>
        </p:spPr>
      </p:pic>
    </p:spTree>
    <p:extLst>
      <p:ext uri="{BB962C8B-B14F-4D97-AF65-F5344CB8AC3E}">
        <p14:creationId xmlns:p14="http://schemas.microsoft.com/office/powerpoint/2010/main" val="1049881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462502BD-9AD0-28B0-1E7A-9530B6315FB6}"/>
              </a:ext>
            </a:extLst>
          </p:cNvPr>
          <p:cNvSpPr txBox="1"/>
          <p:nvPr/>
        </p:nvSpPr>
        <p:spPr>
          <a:xfrm>
            <a:off x="1058779" y="826168"/>
            <a:ext cx="9055768" cy="5940088"/>
          </a:xfrm>
          <a:prstGeom prst="rect">
            <a:avLst/>
          </a:prstGeom>
          <a:noFill/>
        </p:spPr>
        <p:txBody>
          <a:bodyPr wrap="square" rtlCol="0">
            <a:spAutoFit/>
          </a:bodyPr>
          <a:lstStyle/>
          <a:p>
            <a:r>
              <a:rPr lang="en-US" sz="2800" dirty="0">
                <a:solidFill>
                  <a:srgbClr val="7030A0"/>
                </a:solidFill>
              </a:rPr>
              <a:t>Sales Overview</a:t>
            </a:r>
          </a:p>
          <a:p>
            <a:endParaRPr lang="en-US" dirty="0">
              <a:cs typeface="Arial" panose="020B0604020202020204" pitchFamily="34" charset="0"/>
            </a:endParaRPr>
          </a:p>
          <a:p>
            <a:pPr marL="285750" indent="-285750">
              <a:buClr>
                <a:srgbClr val="E090E4"/>
              </a:buClr>
              <a:buSzPct val="100000"/>
              <a:buFont typeface="Wingdings" panose="05000000000000000000" pitchFamily="2" charset="2"/>
              <a:buChar char="v"/>
            </a:pPr>
            <a:r>
              <a:rPr lang="en-US" dirty="0">
                <a:cs typeface="Arial" panose="020B0604020202020204" pitchFamily="34" charset="0"/>
              </a:rPr>
              <a:t>The Sales Overview Dashboard provides a quick snapshot of overall business performance. It highlights best-selling products, compares online and in-store sales, and tracks monthly revenue trends. </a:t>
            </a:r>
          </a:p>
          <a:p>
            <a:pPr>
              <a:buClr>
                <a:srgbClr val="E090E4"/>
              </a:buClr>
              <a:buSzPct val="100000"/>
            </a:pPr>
            <a:endParaRPr lang="en-US" dirty="0">
              <a:cs typeface="Arial" panose="020B0604020202020204" pitchFamily="34" charset="0"/>
            </a:endParaRPr>
          </a:p>
          <a:p>
            <a:pPr marL="285750" indent="-285750">
              <a:buClr>
                <a:srgbClr val="D96EDC"/>
              </a:buClr>
              <a:buFont typeface="Wingdings" panose="05000000000000000000" pitchFamily="2" charset="2"/>
              <a:buChar char="v"/>
            </a:pPr>
            <a:r>
              <a:rPr lang="en-US" dirty="0">
                <a:cs typeface="Arial" panose="020B0604020202020204" pitchFamily="34" charset="0"/>
              </a:rPr>
              <a:t>This helps identify top-performing items, monitor sales patterns, and support data-driven decisions for pricing, marketing, and inventory planning.</a:t>
            </a:r>
          </a:p>
          <a:p>
            <a:endParaRPr lang="en-US" dirty="0">
              <a:cs typeface="Arial" panose="020B0604020202020204" pitchFamily="34" charset="0"/>
            </a:endParaRPr>
          </a:p>
          <a:p>
            <a:endParaRPr lang="en-US" dirty="0"/>
          </a:p>
          <a:p>
            <a:endParaRPr lang="en-US" dirty="0"/>
          </a:p>
          <a:p>
            <a:r>
              <a:rPr lang="en-IN" sz="2800" dirty="0">
                <a:solidFill>
                  <a:srgbClr val="7030A0"/>
                </a:solidFill>
              </a:rPr>
              <a:t>Customer Insights</a:t>
            </a:r>
            <a:endParaRPr lang="en-US" sz="2800" dirty="0">
              <a:solidFill>
                <a:srgbClr val="7030A0"/>
              </a:solidFill>
            </a:endParaRPr>
          </a:p>
          <a:p>
            <a:endParaRPr lang="en-US" dirty="0"/>
          </a:p>
          <a:p>
            <a:pPr marL="285750" indent="-285750">
              <a:buClr>
                <a:srgbClr val="D972DC"/>
              </a:buClr>
              <a:buFont typeface="Wingdings" panose="05000000000000000000" pitchFamily="2" charset="2"/>
              <a:buChar char="v"/>
            </a:pPr>
            <a:r>
              <a:rPr lang="en-US" dirty="0"/>
              <a:t>The Customer Insights Dashboard provides an overview of customer demographics and buying behavior. It highlights customer distribution across regions and age groups, along with their revenue contribution.</a:t>
            </a:r>
          </a:p>
          <a:p>
            <a:r>
              <a:rPr lang="en-US" dirty="0"/>
              <a:t> </a:t>
            </a:r>
          </a:p>
          <a:p>
            <a:pPr marL="285750" indent="-285750">
              <a:buClr>
                <a:srgbClr val="D665D9"/>
              </a:buClr>
              <a:buFont typeface="Wingdings" panose="05000000000000000000" pitchFamily="2" charset="2"/>
              <a:buChar char="v"/>
            </a:pPr>
            <a:r>
              <a:rPr lang="en-US" dirty="0"/>
              <a:t>This helps identify high-value segments, understand purchasing patterns, and design targeted marketing and retention strategies.</a:t>
            </a:r>
          </a:p>
          <a:p>
            <a:endParaRPr lang="en-US" dirty="0"/>
          </a:p>
        </p:txBody>
      </p:sp>
    </p:spTree>
    <p:extLst>
      <p:ext uri="{BB962C8B-B14F-4D97-AF65-F5344CB8AC3E}">
        <p14:creationId xmlns:p14="http://schemas.microsoft.com/office/powerpoint/2010/main" val="10634112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5B6DF49-1108-BCDD-97B1-0B66892EACCD}"/>
              </a:ext>
            </a:extLst>
          </p:cNvPr>
          <p:cNvSpPr txBox="1"/>
          <p:nvPr/>
        </p:nvSpPr>
        <p:spPr>
          <a:xfrm>
            <a:off x="1098884" y="720566"/>
            <a:ext cx="8382000" cy="5416868"/>
          </a:xfrm>
          <a:prstGeom prst="rect">
            <a:avLst/>
          </a:prstGeom>
          <a:noFill/>
        </p:spPr>
        <p:txBody>
          <a:bodyPr wrap="square" rtlCol="0">
            <a:spAutoFit/>
          </a:bodyPr>
          <a:lstStyle/>
          <a:p>
            <a:r>
              <a:rPr lang="en-IN" sz="2800" dirty="0">
                <a:solidFill>
                  <a:srgbClr val="7030A0"/>
                </a:solidFill>
              </a:rPr>
              <a:t>Product Performance</a:t>
            </a:r>
          </a:p>
          <a:p>
            <a:endParaRPr lang="en-IN" sz="2800" dirty="0">
              <a:solidFill>
                <a:srgbClr val="7030A0"/>
              </a:solidFill>
            </a:endParaRPr>
          </a:p>
          <a:p>
            <a:pPr marL="285750" indent="-285750">
              <a:buClr>
                <a:srgbClr val="DE80E0"/>
              </a:buClr>
              <a:buFont typeface="Wingdings" panose="05000000000000000000" pitchFamily="2" charset="2"/>
              <a:buChar char="v"/>
            </a:pPr>
            <a:r>
              <a:rPr lang="en-US" dirty="0"/>
              <a:t>The Product Performance Dashboard focuses on analyzing product sales, profit margins, and return rates. It helps identify top-performing and underperforming product categories, revealing areas for improvement.</a:t>
            </a:r>
          </a:p>
          <a:p>
            <a:endParaRPr lang="en-US" dirty="0"/>
          </a:p>
          <a:p>
            <a:pPr marL="285750" indent="-285750">
              <a:buClr>
                <a:srgbClr val="D96EDC"/>
              </a:buClr>
              <a:buFont typeface="Wingdings" panose="05000000000000000000" pitchFamily="2" charset="2"/>
              <a:buChar char="v"/>
            </a:pPr>
            <a:r>
              <a:rPr lang="en-US" dirty="0"/>
              <a:t> This supports better inventory planning, pricing decisions, and overall product quality enhancement.</a:t>
            </a:r>
            <a:endParaRPr lang="en-IN" dirty="0">
              <a:solidFill>
                <a:srgbClr val="7030A0"/>
              </a:solidFill>
            </a:endParaRPr>
          </a:p>
          <a:p>
            <a:endParaRPr lang="en-IN" sz="2800" dirty="0">
              <a:solidFill>
                <a:srgbClr val="7030A0"/>
              </a:solidFill>
            </a:endParaRPr>
          </a:p>
          <a:p>
            <a:r>
              <a:rPr lang="en-IN" sz="2800" dirty="0">
                <a:solidFill>
                  <a:srgbClr val="7030A0"/>
                </a:solidFill>
              </a:rPr>
              <a:t>Store Analysis</a:t>
            </a:r>
          </a:p>
          <a:p>
            <a:endParaRPr lang="en-IN" dirty="0"/>
          </a:p>
          <a:p>
            <a:pPr marL="285750" indent="-285750">
              <a:buClr>
                <a:srgbClr val="D45BD7"/>
              </a:buClr>
              <a:buFont typeface="Wingdings" panose="05000000000000000000" pitchFamily="2" charset="2"/>
              <a:buChar char="v"/>
            </a:pPr>
            <a:r>
              <a:rPr lang="en-US" dirty="0"/>
              <a:t>The Store Analysis Dashboard compares sales, profit, and operational efficiency across different store locations. It highlights the most profitable stores and regions while identifying those that need attention. </a:t>
            </a:r>
          </a:p>
          <a:p>
            <a:endParaRPr lang="en-US" dirty="0"/>
          </a:p>
          <a:p>
            <a:pPr marL="285750" indent="-285750">
              <a:buClr>
                <a:srgbClr val="D86BDB"/>
              </a:buClr>
              <a:buFont typeface="Wingdings" panose="05000000000000000000" pitchFamily="2" charset="2"/>
              <a:buChar char="v"/>
            </a:pPr>
            <a:r>
              <a:rPr lang="en-US" dirty="0"/>
              <a:t>This helps management optimize costs, improve performance, and plan future expansion strategically.</a:t>
            </a:r>
            <a:endParaRPr lang="en-IN" dirty="0"/>
          </a:p>
        </p:txBody>
      </p:sp>
    </p:spTree>
    <p:extLst>
      <p:ext uri="{BB962C8B-B14F-4D97-AF65-F5344CB8AC3E}">
        <p14:creationId xmlns:p14="http://schemas.microsoft.com/office/powerpoint/2010/main" val="35583134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52ED496-FD8D-C47C-2F40-28564A00699C}"/>
              </a:ext>
            </a:extLst>
          </p:cNvPr>
          <p:cNvSpPr txBox="1"/>
          <p:nvPr/>
        </p:nvSpPr>
        <p:spPr>
          <a:xfrm>
            <a:off x="994611" y="1012954"/>
            <a:ext cx="8502315" cy="5047536"/>
          </a:xfrm>
          <a:prstGeom prst="rect">
            <a:avLst/>
          </a:prstGeom>
          <a:noFill/>
        </p:spPr>
        <p:txBody>
          <a:bodyPr wrap="square" rtlCol="0">
            <a:spAutoFit/>
          </a:bodyPr>
          <a:lstStyle/>
          <a:p>
            <a:r>
              <a:rPr lang="en-IN" sz="2800" dirty="0">
                <a:solidFill>
                  <a:srgbClr val="7030A0"/>
                </a:solidFill>
              </a:rPr>
              <a:t>Return Analysis</a:t>
            </a:r>
          </a:p>
          <a:p>
            <a:endParaRPr lang="en-IN" dirty="0">
              <a:solidFill>
                <a:srgbClr val="7030A0"/>
              </a:solidFill>
            </a:endParaRPr>
          </a:p>
          <a:p>
            <a:pPr marL="285750" indent="-285750">
              <a:buClr>
                <a:srgbClr val="DD7DDF"/>
              </a:buClr>
              <a:buFont typeface="Wingdings" panose="05000000000000000000" pitchFamily="2" charset="2"/>
              <a:buChar char="v"/>
            </a:pPr>
            <a:r>
              <a:rPr lang="en-US" dirty="0"/>
              <a:t>The Return Analysis Dashboard provides insights into product returns across categories, regions, and time periods. It identifies patterns and reasons behind high return rates, enabling focused action on quality and logistics issues. </a:t>
            </a:r>
          </a:p>
          <a:p>
            <a:endParaRPr lang="en-US" dirty="0"/>
          </a:p>
          <a:p>
            <a:pPr marL="285750" indent="-285750">
              <a:buClr>
                <a:srgbClr val="DD7DDF"/>
              </a:buClr>
              <a:buFont typeface="Wingdings" panose="05000000000000000000" pitchFamily="2" charset="2"/>
              <a:buChar char="v"/>
            </a:pPr>
            <a:r>
              <a:rPr lang="en-US" dirty="0"/>
              <a:t>This helps improve customer satisfaction, reduce losses, and strengthen operational efficiency.</a:t>
            </a:r>
          </a:p>
          <a:p>
            <a:endParaRPr lang="en-IN" sz="2800" dirty="0">
              <a:solidFill>
                <a:srgbClr val="7030A0"/>
              </a:solidFill>
            </a:endParaRPr>
          </a:p>
          <a:p>
            <a:endParaRPr lang="en-IN" sz="2800" dirty="0">
              <a:solidFill>
                <a:srgbClr val="7030A0"/>
              </a:solidFill>
            </a:endParaRPr>
          </a:p>
          <a:p>
            <a:endParaRPr lang="en-IN" sz="2800" dirty="0">
              <a:solidFill>
                <a:srgbClr val="7030A0"/>
              </a:solidFill>
            </a:endParaRPr>
          </a:p>
          <a:p>
            <a:endParaRPr lang="en-IN" sz="2800" dirty="0">
              <a:solidFill>
                <a:srgbClr val="7030A0"/>
              </a:solidFill>
            </a:endParaRPr>
          </a:p>
          <a:p>
            <a:endParaRPr lang="en-IN" sz="2800" dirty="0">
              <a:solidFill>
                <a:srgbClr val="7030A0"/>
              </a:solidFill>
            </a:endParaRPr>
          </a:p>
          <a:p>
            <a:endParaRPr lang="en-IN" sz="2800" dirty="0">
              <a:solidFill>
                <a:srgbClr val="7030A0"/>
              </a:solidFill>
            </a:endParaRPr>
          </a:p>
        </p:txBody>
      </p:sp>
    </p:spTree>
    <p:extLst>
      <p:ext uri="{BB962C8B-B14F-4D97-AF65-F5344CB8AC3E}">
        <p14:creationId xmlns:p14="http://schemas.microsoft.com/office/powerpoint/2010/main" val="31780957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3FDDC70-3DAE-6225-1F98-9819F292D983}"/>
              </a:ext>
            </a:extLst>
          </p:cNvPr>
          <p:cNvSpPr txBox="1"/>
          <p:nvPr/>
        </p:nvSpPr>
        <p:spPr>
          <a:xfrm>
            <a:off x="1243264" y="1050757"/>
            <a:ext cx="8494294" cy="5109091"/>
          </a:xfrm>
          <a:prstGeom prst="rect">
            <a:avLst/>
          </a:prstGeom>
          <a:noFill/>
        </p:spPr>
        <p:txBody>
          <a:bodyPr wrap="square" rtlCol="0">
            <a:spAutoFit/>
          </a:bodyPr>
          <a:lstStyle/>
          <a:p>
            <a:endParaRPr lang="en-US" dirty="0"/>
          </a:p>
          <a:p>
            <a:r>
              <a:rPr lang="en-US" sz="3200" dirty="0">
                <a:solidFill>
                  <a:srgbClr val="7030A0"/>
                </a:solidFill>
              </a:rPr>
              <a:t>CHALLENGES FACED</a:t>
            </a:r>
          </a:p>
          <a:p>
            <a:endParaRPr lang="en-US" b="1" dirty="0">
              <a:solidFill>
                <a:srgbClr val="7030A0"/>
              </a:solidFill>
            </a:endParaRPr>
          </a:p>
          <a:p>
            <a:pPr marL="285750" indent="-285750">
              <a:buClr>
                <a:srgbClr val="BA8CDC"/>
              </a:buClr>
              <a:buFont typeface="Wingdings" panose="05000000000000000000" pitchFamily="2" charset="2"/>
              <a:buChar char="v"/>
            </a:pPr>
            <a:r>
              <a:rPr lang="en-US" sz="2400" dirty="0"/>
              <a:t>Ensuring data accuracy and consistency across multiple datasets.</a:t>
            </a:r>
          </a:p>
          <a:p>
            <a:endParaRPr lang="en-US" sz="2400" dirty="0"/>
          </a:p>
          <a:p>
            <a:pPr marL="285750" indent="-285750">
              <a:buClr>
                <a:srgbClr val="C489FF"/>
              </a:buClr>
              <a:buFont typeface="Wingdings" panose="05000000000000000000" pitchFamily="2" charset="2"/>
              <a:buChar char="v"/>
            </a:pPr>
            <a:r>
              <a:rPr lang="en-US" sz="2400" dirty="0"/>
              <a:t>Integrating large datasets from sales, customers, stores, products, and returns into a single database.</a:t>
            </a:r>
          </a:p>
          <a:p>
            <a:endParaRPr lang="en-US" sz="2400" dirty="0"/>
          </a:p>
          <a:p>
            <a:pPr marL="285750" indent="-285750">
              <a:buClr>
                <a:srgbClr val="CE85FF"/>
              </a:buClr>
              <a:buFont typeface="Wingdings" panose="05000000000000000000" pitchFamily="2" charset="2"/>
              <a:buChar char="v"/>
            </a:pPr>
            <a:r>
              <a:rPr lang="en-US" sz="2400" dirty="0"/>
              <a:t>Managing complex SQL relationships and validating joins between tables.</a:t>
            </a:r>
          </a:p>
          <a:p>
            <a:endParaRPr lang="en-US" sz="2400" dirty="0"/>
          </a:p>
          <a:p>
            <a:pPr marL="285750" indent="-285750">
              <a:buClr>
                <a:srgbClr val="CB97FF"/>
              </a:buClr>
              <a:buFont typeface="Wingdings" panose="05000000000000000000" pitchFamily="2" charset="2"/>
              <a:buChar char="v"/>
            </a:pPr>
            <a:r>
              <a:rPr lang="en-US" sz="2400" dirty="0"/>
              <a:t>Designing clear and interactive Power BI dashboards to effectively communicate insights.</a:t>
            </a:r>
          </a:p>
          <a:p>
            <a:endParaRPr lang="en-IN" dirty="0"/>
          </a:p>
        </p:txBody>
      </p:sp>
    </p:spTree>
    <p:extLst>
      <p:ext uri="{BB962C8B-B14F-4D97-AF65-F5344CB8AC3E}">
        <p14:creationId xmlns:p14="http://schemas.microsoft.com/office/powerpoint/2010/main" val="32560207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5EE63-4752-34E0-DA59-AB449BE75A34}"/>
              </a:ext>
            </a:extLst>
          </p:cNvPr>
          <p:cNvSpPr>
            <a:spLocks noGrp="1"/>
          </p:cNvSpPr>
          <p:nvPr>
            <p:ph type="title"/>
          </p:nvPr>
        </p:nvSpPr>
        <p:spPr>
          <a:xfrm>
            <a:off x="1001226" y="770917"/>
            <a:ext cx="3859064" cy="833293"/>
          </a:xfrm>
        </p:spPr>
        <p:txBody>
          <a:bodyPr>
            <a:normAutofit/>
          </a:bodyPr>
          <a:lstStyle/>
          <a:p>
            <a:pPr algn="l"/>
            <a:r>
              <a:rPr lang="en-US" sz="3200" dirty="0">
                <a:solidFill>
                  <a:srgbClr val="7030A0"/>
                </a:solidFill>
              </a:rPr>
              <a:t>conclusion</a:t>
            </a:r>
            <a:endParaRPr lang="en-IN" sz="3200" dirty="0">
              <a:solidFill>
                <a:srgbClr val="7030A0"/>
              </a:solidFill>
            </a:endParaRPr>
          </a:p>
        </p:txBody>
      </p:sp>
      <p:sp>
        <p:nvSpPr>
          <p:cNvPr id="3" name="Content Placeholder 2">
            <a:extLst>
              <a:ext uri="{FF2B5EF4-FFF2-40B4-BE49-F238E27FC236}">
                <a16:creationId xmlns:a16="http://schemas.microsoft.com/office/drawing/2014/main" id="{17FD396B-1AFF-EE19-F095-981F3A3B6ED3}"/>
              </a:ext>
            </a:extLst>
          </p:cNvPr>
          <p:cNvSpPr>
            <a:spLocks noGrp="1"/>
          </p:cNvSpPr>
          <p:nvPr>
            <p:ph sz="quarter" idx="13"/>
          </p:nvPr>
        </p:nvSpPr>
        <p:spPr>
          <a:xfrm>
            <a:off x="1001225" y="1692442"/>
            <a:ext cx="8800501" cy="4098758"/>
          </a:xfrm>
        </p:spPr>
        <p:txBody>
          <a:bodyPr>
            <a:normAutofit/>
          </a:bodyPr>
          <a:lstStyle/>
          <a:p>
            <a:r>
              <a:rPr lang="en-US" sz="1800" dirty="0"/>
              <a:t>The End-to-End  Retail Performance and Behavioral Analytics project helped Retail Nova transform raw data into meaningful business insights. Through data cleaning, SQL analysis, and interactive dashboards, the company gained a clear understanding of sales trends, customer behavior, and product performance.</a:t>
            </a:r>
          </a:p>
          <a:p>
            <a:endParaRPr lang="en-US" sz="1800" dirty="0"/>
          </a:p>
          <a:p>
            <a:r>
              <a:rPr lang="en-US" sz="1800" dirty="0"/>
              <a:t> These insights empower data-driven decisions that enhance profitability, reduce returns, and improve overall business efficiency.</a:t>
            </a:r>
            <a:endParaRPr lang="en-IN" sz="1800" dirty="0"/>
          </a:p>
        </p:txBody>
      </p:sp>
    </p:spTree>
    <p:extLst>
      <p:ext uri="{BB962C8B-B14F-4D97-AF65-F5344CB8AC3E}">
        <p14:creationId xmlns:p14="http://schemas.microsoft.com/office/powerpoint/2010/main" val="33543687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5218DA58-62C2-C03F-06EB-1C5E753A08EA}"/>
              </a:ext>
            </a:extLst>
          </p:cNvPr>
          <p:cNvPicPr>
            <a:picLocks noChangeAspect="1"/>
          </p:cNvPicPr>
          <p:nvPr/>
        </p:nvPicPr>
        <p:blipFill>
          <a:blip r:embed="rId2"/>
          <a:stretch>
            <a:fillRect/>
          </a:stretch>
        </p:blipFill>
        <p:spPr>
          <a:xfrm>
            <a:off x="3421205" y="2622885"/>
            <a:ext cx="6390549" cy="2040356"/>
          </a:xfrm>
          <a:prstGeom prst="rect">
            <a:avLst/>
          </a:prstGeom>
        </p:spPr>
      </p:pic>
    </p:spTree>
    <p:extLst>
      <p:ext uri="{BB962C8B-B14F-4D97-AF65-F5344CB8AC3E}">
        <p14:creationId xmlns:p14="http://schemas.microsoft.com/office/powerpoint/2010/main" val="1581906982"/>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27537E"/>
      </a:dk2>
      <a:lt2>
        <a:srgbClr val="AABED7"/>
      </a:lt2>
      <a:accent1>
        <a:srgbClr val="E34B7A"/>
      </a:accent1>
      <a:accent2>
        <a:srgbClr val="AC339A"/>
      </a:accent2>
      <a:accent3>
        <a:srgbClr val="6953B7"/>
      </a:accent3>
      <a:accent4>
        <a:srgbClr val="1D7EAB"/>
      </a:accent4>
      <a:accent5>
        <a:srgbClr val="43AFD6"/>
      </a:accent5>
      <a:accent6>
        <a:srgbClr val="DE85E1"/>
      </a:accent6>
      <a:hlink>
        <a:srgbClr val="ED87A6"/>
      </a:hlink>
      <a:folHlink>
        <a:srgbClr val="C99EAC"/>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78000"/>
                <a:shade val="100000"/>
                <a:hueMod val="136000"/>
                <a:satMod val="160000"/>
                <a:lumMod val="105000"/>
              </a:schemeClr>
            </a:gs>
            <a:gs pos="100000">
              <a:schemeClr val="phClr">
                <a:shade val="92000"/>
                <a:satMod val="170000"/>
                <a:lumMod val="96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C71B277C-C29A-4BA0-A7BA-43502DF21AB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TM04033925[[fn=Droplet]]</Template>
  <TotalTime>679</TotalTime>
  <Words>679</Words>
  <Application>Microsoft Office PowerPoint</Application>
  <PresentationFormat>Widescreen</PresentationFormat>
  <Paragraphs>82</Paragraphs>
  <Slides>12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Trebuchet MS</vt:lpstr>
      <vt:lpstr>Tw Cen MT</vt:lpstr>
      <vt:lpstr>Wingdings</vt:lpstr>
      <vt:lpstr>Droplet</vt:lpstr>
      <vt:lpstr>End-to-End Retail Performance and Behavioral Analytics</vt:lpstr>
      <vt:lpstr>CONTENTS</vt:lpstr>
      <vt:lpstr>Objective</vt:lpstr>
      <vt:lpstr>Steps Performed</vt:lpstr>
      <vt:lpstr>Data Cleaning and Manipulation </vt:lpstr>
      <vt:lpstr>Data Visualization</vt:lpstr>
      <vt:lpstr>PowerPoint Presentation</vt:lpstr>
      <vt:lpstr>PowerPoint Presentation</vt:lpstr>
      <vt:lpstr>PowerPoint Presentation</vt:lpstr>
      <vt:lpstr>PowerPoint Presentation</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Vasifa Shaik</dc:creator>
  <cp:lastModifiedBy>Vasifa Shaik</cp:lastModifiedBy>
  <cp:revision>1</cp:revision>
  <dcterms:created xsi:type="dcterms:W3CDTF">2025-10-29T07:59:03Z</dcterms:created>
  <dcterms:modified xsi:type="dcterms:W3CDTF">2025-10-29T19:24:27Z</dcterms:modified>
</cp:coreProperties>
</file>